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41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dev Karthikeyan" userId="b1e3b4bc5c833d89" providerId="LiveId" clId="{23A0A22E-5922-44B1-960A-C1F3728A4CF6}"/>
    <pc:docChg chg="custSel modSld">
      <pc:chgData name="Jaidev Karthikeyan" userId="b1e3b4bc5c833d89" providerId="LiveId" clId="{23A0A22E-5922-44B1-960A-C1F3728A4CF6}" dt="2026-10-05T11:49:20.414" v="134" actId="478"/>
      <pc:docMkLst>
        <pc:docMk/>
      </pc:docMkLst>
      <pc:sldChg chg="addSp delSp modSp mod">
        <pc:chgData name="Jaidev Karthikeyan" userId="b1e3b4bc5c833d89" providerId="LiveId" clId="{23A0A22E-5922-44B1-960A-C1F3728A4CF6}" dt="2026-10-05T11:49:20.414" v="134" actId="478"/>
        <pc:sldMkLst>
          <pc:docMk/>
          <pc:sldMk cId="0" sldId="256"/>
        </pc:sldMkLst>
        <pc:spChg chg="add del mod">
          <ac:chgData name="Jaidev Karthikeyan" userId="b1e3b4bc5c833d89" providerId="LiveId" clId="{23A0A22E-5922-44B1-960A-C1F3728A4CF6}" dt="2026-10-05T11:49:20.414" v="134" actId="478"/>
          <ac:spMkLst>
            <pc:docMk/>
            <pc:sldMk cId="0" sldId="256"/>
            <ac:spMk id="5" creationId="{0F132F14-BB4A-32C8-8543-43B27E69ED1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971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SIMULATION-ONLY RESEARCH PROJECT — SKY130 / ngspice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Continuous-Time Filter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Open-Source SKY130 PDK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Monte Carlo and PVT-Corner Study, with Full Open-Source Release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of the Project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EEF3FB"/>
          </a:solidFill>
          <a:ln w="12700">
            <a:solidFill>
              <a:srgbClr val="245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731520" y="1508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statistically characterize — not just verify at a single nominal point — how much a second-order Gm-C low-pass filter's cutoff frequency, quality factor, and passband ripple actually vary once realistic device mismatch and PVT conditions are accounted for, entirely within the free, open-source SKY130 process.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365760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6" name="Shape 4"/>
          <p:cNvSpPr/>
          <p:nvPr/>
        </p:nvSpPr>
        <p:spPr>
          <a:xfrm>
            <a:off x="621792" y="2798064"/>
            <a:ext cx="365760" cy="365760"/>
          </a:xfrm>
          <a:prstGeom prst="ellipse">
            <a:avLst/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21792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099816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working Gm-C filter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703320"/>
            <a:ext cx="33284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cascaded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OTA-based transconductor-capacitor integrator stages (each with a diode-connected mirror load, tail current source, and CMFB loop), plus an output buffer, targeting fc = 1 kHz, Q = 0.9 — built entirely from SKY130 device models in Xschem.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2651760"/>
            <a:ext cx="365760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416552" y="2798064"/>
            <a:ext cx="365760" cy="365760"/>
          </a:xfrm>
          <a:prstGeom prst="ellipse">
            <a:avLst/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416552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3246120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statistical spread via Monte Carlo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416552" y="3703320"/>
            <a:ext cx="33284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500+ randomized mismatch simulations using SKY130's built-in statistical device models; report the resulting distributions of fc, Q, and ripple — the paper's central deliverable.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2651760"/>
            <a:ext cx="365760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11312" y="2798064"/>
            <a:ext cx="365760" cy="365760"/>
          </a:xfrm>
          <a:prstGeom prst="ellipse">
            <a:avLst/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211312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11312" y="3246120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PVT robustness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11312" y="3703320"/>
            <a:ext cx="33284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the same filter across process corners (tt/ss/ff), supply voltage (±10%), and temperature (−20°C to 85°C) to establish worst-case, non-random performance shift.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599432"/>
            <a:ext cx="365760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21792" y="4745736"/>
            <a:ext cx="365760" cy="365760"/>
          </a:xfrm>
          <a:prstGeom prst="ellipse">
            <a:avLst/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21792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5193792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 the results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5650992"/>
            <a:ext cx="33284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AC-domain Monte Carlo/PVT findings against an independent transient-domain measurement, guarding against single-method artifacts.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4599432"/>
            <a:ext cx="365760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416552" y="4745736"/>
            <a:ext cx="365760" cy="365760"/>
          </a:xfrm>
          <a:prstGeom prst="ellipse">
            <a:avLst/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4416552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416552" y="5193792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 verified literature gap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416552" y="5650992"/>
            <a:ext cx="33284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work combines statistical characterization + open-source PDK + complete filter + released netlists — this project sits at that four-way intersection (see Slide 5).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4599432"/>
            <a:ext cx="365760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211312" y="4745736"/>
            <a:ext cx="365760" cy="365760"/>
          </a:xfrm>
          <a:prstGeom prst="ellipse">
            <a:avLst/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8211312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11312" y="5193792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everything openly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211312" y="5650992"/>
            <a:ext cx="33284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netlists, Monte Carlo seeds, and analysis scripts published on GitHub — a reusable reference artifact for the open-silicon community, not just a set of numbers.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Under Test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Gm-C second-order low-pass filter — full transistor-level schematic (SKY130)</a:t>
            </a:r>
            <a:endParaRPr lang="en-US" sz="1300" dirty="0"/>
          </a:p>
        </p:txBody>
      </p:sp>
      <p:pic>
        <p:nvPicPr>
          <p:cNvPr id="4" name="Image 0" descr="/mnt/user-data/uploads/178776659328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731" y="1234440"/>
            <a:ext cx="8744233" cy="5212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Architecture — Key Sub-Blocks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EEF3FB"/>
          </a:solidFill>
          <a:ln w="16510">
            <a:solidFill>
              <a:srgbClr val="245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85800" y="1581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OTA1 / OTA2 (Integrators)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84248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M1/M2 differential pair (4µ/0.5µ) · M3 diode-connected, M4 mirror (8µ/0.5µ PMOS load) · M5 tail (6µ/1µ). Identical structure, cascaded via Vx.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3EBFB"/>
          </a:solidFill>
          <a:ln w="1651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0" y="1581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Current Bias (Shared)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84248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I_REF into Mb (diode-connected, 6µ/1µ) → Vbias_tail_static, mirrored to both OTAs' M5 gates via a summing node.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DF2F0"/>
          </a:solidFill>
          <a:ln w="16510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85800" y="35478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CMFB Loop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950208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Rs1/Rs2 average OUT1/OUT2 → compared vs. Vcm_ref (≈0.9V) → Error Amp → Vctrl, summed into the shared tail-bias node. Keeps output common-mode stable.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338328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0F9F1"/>
          </a:solidFill>
          <a:ln w="1651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400800" y="35478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Feedback + Output Buffer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950208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R_fb/C_fb (values TBD — solved from target Q=0.9) route Vout back to OTA1's second input; unity-gain buffer isolates Vout' from the load.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Circuit Breakdown — Signal Flow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 enters OTA1, integrates through two OTA-C stages, exits through a unity-gain buffer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66651" y="3755292"/>
            <a:ext cx="11247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 → OTA1: </a:t>
            </a:r>
            <a:r>
              <a:rPr lang="en-US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signal drives OTA1's non-inverting input (IN1+)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222A3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IN1− carries the global feedback signal. </a:t>
            </a:r>
            <a:r>
              <a:rPr lang="en-US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OUT1/Vx → OTA2: </a:t>
            </a:r>
            <a:r>
              <a:rPr lang="en-US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OTA1's output charges C1 (10pF), and this integrated node Vx directly drives OTA2's non-inverting input. 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222A3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OUT2/Vout' → Buffer → Vout: </a:t>
            </a:r>
            <a:r>
              <a:rPr lang="en-US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OTA2's output charges C2, then a unity-gain buffer isolates this internal node from the external load before the final output.</a:t>
            </a:r>
            <a:endParaRPr lang="en-US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241A05-9B75-2D59-EE1E-01C1793C7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82" y="1679134"/>
            <a:ext cx="10662458" cy="17623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Circuit Breakdown — Input Differential Pair (M1, M2)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structure in both OTA1 and OTA2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08660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dirty="0"/>
          </a:p>
        </p:txBody>
      </p:sp>
      <p:sp>
        <p:nvSpPr>
          <p:cNvPr id="6" name="Text 3"/>
          <p:cNvSpPr txBox="1"/>
          <p:nvPr/>
        </p:nvSpPr>
        <p:spPr>
          <a:xfrm>
            <a:off x="7086600" y="17556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M1, M2 — NMOS, sky130_fd_pr__nfet_01v8, W/L = 4µ/0.5µ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08660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7086600" y="285292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differential input voltage (IN+/IN−) into a differential drain current — this is the transconductance (gm) stage that gives the OTA its name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39502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= IN1+/IN1− (the two OTA inputs). Sources joined at one common node, which drops to M5's drain (the tail). Drains feed up into M3/M4 (the mirror load)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496297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4µ/0.5µ</a:t>
            </a:r>
            <a:endParaRPr lang="en-US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5394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via gm/ID methodology to hit the target gm ≈ 63 µA/V needed for fc = 1kHz with C1/C2 = 10pF — larger devices reduce mismatch (Pelgrom's law) at the cost of more parasitic capacitance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4BFA954-8292-B21F-E52F-6A79BC3A9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673" y="1737360"/>
            <a:ext cx="5097087" cy="37587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Circuit Breakdown — PMOS Current-Mirror Load (M3, M4)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active load that converts differential current into a usable output voltage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08660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dirty="0"/>
          </a:p>
        </p:txBody>
      </p:sp>
      <p:sp>
        <p:nvSpPr>
          <p:cNvPr id="6" name="Text 3"/>
          <p:cNvSpPr txBox="1"/>
          <p:nvPr/>
        </p:nvSpPr>
        <p:spPr>
          <a:xfrm>
            <a:off x="7086600" y="170992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M3, M4 — PMOS, sky130_fd_pr__pfet_01v8, W/L = 8µ/0.5µ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08660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diode-connected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7086600" y="262432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tied directly to its own drain. This sets a fixed reference voltage that establishes the mirror's bias point — a self-biasing configuration, not an externally supplied one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— mirror device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3630168"/>
            <a:ext cx="4572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tied to M3's gate (not its own drain), so it copies M3's gate-source voltage. Since M1's current sets M3's operating point, M4 mirrors that same current onto M2's side — but any imbalance in M1/M2's currents shows up as a voltage swing at OUT1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49000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PMOS (not NMOS)</a:t>
            </a:r>
            <a:endParaRPr lang="en-US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5281353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connect to VDD, which lets the drains sit at a mid-rail voltage suitable for driving the next stage — a standard choice for an NMOS-input differential pair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C44B256-CEEC-6900-F32B-D2252220E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654" y="1599646"/>
            <a:ext cx="4876800" cy="37587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Circuit Breakdown — Tail Current Source (M5)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total bias current available to the differential pair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08660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dirty="0"/>
          </a:p>
        </p:txBody>
      </p:sp>
      <p:sp>
        <p:nvSpPr>
          <p:cNvPr id="6" name="Text 3"/>
          <p:cNvSpPr txBox="1"/>
          <p:nvPr/>
        </p:nvSpPr>
        <p:spPr>
          <a:xfrm>
            <a:off x="7086600" y="17556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— NMOS, sky130_fd_pr__nfet_01v8, W/L = 6µ/1µ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08660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7086600" y="285292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connects to the M1/M2 common-source node; source to ground. Acts as a current sink, fixing the total current that M1 and M2 must share between them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drive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39502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= Vbias_tail — NOT a fixed voltage, but the summed output of the shared bias-mirror (Vbias_tail_static) and the CMFB correction (Vctrl). See Slide 4g.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48234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gm</a:t>
            </a:r>
            <a:endParaRPr lang="en-US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5277473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tail current directly sets M1/M2's operating point and therefore their transconductance gm — since fc = gm/C, this single node is the primary handle for tuning the filter's cutoff frequency electronically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4e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C6B3D9-D05B-E33A-C267-5BDE1FD49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09" y="1783080"/>
            <a:ext cx="4876800" cy="37587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Circuit Breakdown — OTA2 (Identical Structure, Cascaded)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M1–M5 topology as OTA1, driven by Vx instead of Vin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086600" y="1463040"/>
            <a:ext cx="4572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identical: </a:t>
            </a:r>
            <a:r>
              <a:rPr lang="en-US" sz="16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OTA1 and OTA2's device sizes exactly is what makes the second-order response mathematically predictable — the transfer function H(s) assumes both integrator stages share the same gm/C ratio.
</a:t>
            </a: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difference — inputs: </a:t>
            </a:r>
            <a:r>
              <a:rPr lang="en-US" sz="16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IN2+ = Vx (from OTA1's output/C1 node) instead of Vin; IN2− carries whatever OTA2's own local feedback requires.
</a:t>
            </a: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resources: </a:t>
            </a:r>
            <a:r>
              <a:rPr lang="en-US" sz="16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OTA2's M5 gate receives the same Vbias_tail signal as OTA1's — both tail currents are set from one shared bias-mirror and one shared CMFB loop (Slide 4g), keeping both stages' operating points locked together.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4f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AEBBFB-FEC9-925C-EABB-A94613F39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75" y="1783080"/>
            <a:ext cx="5340925" cy="3073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Circuit Breakdown — Shared Bias Generator + CMFB Loop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support circuits that make both OTAs actually work in simulation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6118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I_REF → Mb (diode-connected)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26280" y="3611880"/>
            <a:ext cx="7178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current (bandgap/off-chip, unspecified) flows into Mb, an NMOS diode-connected the same way M3 is — this sets Vbias_tail_static, a fixed reference bias current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7024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Rs1/Rs2 → Vavg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26280" y="4270248"/>
            <a:ext cx="7178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resistors average OUT1 and OUT2 — the actual output nodes of both OTAs — producing a measure of the circuit's common-mode (average) output level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92861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Vavg vs. Vcm_ref → Error Amp → Vctrl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4928616"/>
            <a:ext cx="7178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averaged output is compared against a fixed reference (≈0.9V, i.e. VDD/2) through an error amplifier, producing a correction signal Vctrl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58698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 node: Vbias_tail_static + Vctrl → Vbias_tail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5586984"/>
            <a:ext cx="7178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static bias and the dynamic CMFB correction combine at ONE explicit summing junction — this is what actually drives both OTAs' M5 gates, preventing the two signals from fighting over the same node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48BA8F8-0368-00DD-B54D-177464673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91" y="1559960"/>
            <a:ext cx="10834254" cy="1686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Landscape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rigor and open-source accessibility have never appeared together at the filter level — until now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897751"/>
              </p:ext>
            </p:extLst>
          </p:nvPr>
        </p:nvGraphicFramePr>
        <p:xfrm>
          <a:off x="457200" y="1600200"/>
          <a:ext cx="11247120" cy="3931921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Study / Source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Statistical Char.?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Open PDK?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Filter-Level?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Scripts Released?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Aiello et al. — Linear</a:t>
                      </a:r>
                      <a:endParaRPr lang="en-US" sz="1400" dirty="0"/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Transconductance OTA [2]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No (device only)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Kumngern et al. —</a:t>
                      </a:r>
                      <a:endParaRPr lang="en-US" sz="1400" dirty="0"/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5th-Order Butterworth [1]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Yes (200 MC)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No (TSMC 0.18µm)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SKY130_CT-DSM [3]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No (sub-block)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Partial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AnalogGym (ICCAD 2024) [4]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Framework-level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N/A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Yes (framework)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SKY130 PVT/MC tooling [5,7]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Yes (cell-level)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Yes (tooling)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PROPOSED STUDY (this work)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Yes (500+ MC + full PVT)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Yes (full release)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2020 has the statistical rigor but not the open process; open-SKY130 work has the open process but not the statistical rigor. The proposed study is the only entry combining all four properties.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References Mapped to Project Components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reference is cited for a specific role in the design, methodology, or positioning of this project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41062"/>
              </p:ext>
            </p:extLst>
          </p:nvPr>
        </p:nvGraphicFramePr>
        <p:xfrm>
          <a:off x="579120" y="1356360"/>
          <a:ext cx="11247120" cy="51816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Ref.</a:t>
                      </a:r>
                      <a:endParaRPr lang="en-US" sz="18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8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Role in This Project</a:t>
                      </a:r>
                      <a:endParaRPr lang="en-US" sz="18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[1]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Kumngern et al., Sensors 2020 (5th-Order Butterworth LPF, TSMC 0.18µm)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Methodology template — the 200-run Monte Carlo protocol this project's 500+ run campaign directly adopts and extends (Slide 4: Monte Carlo &amp; PVT methodology)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[2]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Aiello et al. — Linear Transconductance OTA, Open SKY130 PDK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Confirms SKY130 is a credible transconductor-level design platform; the closest prior open-SKY130 OTA work, but stops at the device level (Slide 3: OTA1/OTA2 building blocks)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[3]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SKY130_CT-DSM (GitHub repository)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Flags SKY130's large flicker-noise coefficient — a modeling limitation carried into this project's honest-limitations section (Slide 4: known SKY130 constraints)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[4]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AnalogGym, ICCAD 2024 (arXiv:2409.08534)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Documents open-PDK subthreshold modeling weaknesses generally — grounds this project's decision to cross-validate AC vs. transient results rather than trust one method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[5]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SkyWater SKY130 PDK Documentation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Source of the device models and Monte Carlo/mismatch parameter structure used directly in every simulation (Slide 3: schematic devices M1–M5, Mb)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[6]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IEEE INDICON 2026 Call for Papers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Defines the target venue, submission deadline (31 Aug 2026), and track scope driving the project timeline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[7]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VLSIDA SKY130 Tutorials — Device Models, Binning, Monte Carlo Mismatch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Confirms SKY130 ships corner files (tt/ss/ff) alongside Monte Carlo terms — basis for this project's combined MC + PVT sweep methodology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[9,10]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Silva-Martinez &amp; Vazquez-Gonzalez; Chen et al. (Gm-C/RC tuning under PVT)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Establishes PVT sensitivity (up to 30% time-constant drift uncorrected) as a well-recognized concern — motivates why this project's PVT sweep matters beyond mismatch alone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This Project Fills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DF2F0"/>
          </a:solidFill>
          <a:ln w="952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94360" y="1472184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Open-SKY130 OTA work exists only at the device level, never assembled into a complete filter.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63640" y="1417320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0F9F1"/>
          </a:solidFill>
          <a:ln w="9525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0" y="1472184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SKY130 transconductor stages are cascaded into a working 2nd-order Gm-C LPF with an output buffer, evaluated as an integrated system.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50592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DF2F0"/>
          </a:solidFill>
          <a:ln w="952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2505456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(Monte Carlo/PVT) characterization of Gm-C filters exists only in proprietary nodes (e.g., TSMC 0.18µm).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2450592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0F9F1"/>
          </a:solidFill>
          <a:ln w="9525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00800" y="2505456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identical methodology — 500+ MC runs + tt/ss/ff, ±10% supply, −20 to 85°C corners — is applied natively inside the open SKY130 PDK.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483864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DF2F0"/>
          </a:solidFill>
          <a:ln w="952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94360" y="3538728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SKY130 filter/OTA papers report only a single nominal-case simulation.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3483864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0F9F1"/>
          </a:solidFill>
          <a:ln w="9525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400800" y="3538728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deliverable is the full distribution (mean, σ, corner extremes) of fc, Q, and ripple — not one operating point.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517136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DF2F0"/>
          </a:solidFill>
          <a:ln w="952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94360" y="4572000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reproducible, openly released netlist/script package exists for SKY130 filter-level statistical analysis.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4517136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0F9F1"/>
          </a:solidFill>
          <a:ln w="9525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400800" y="4572000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netlist, testbench, MC seed, and analysis script is released on GitHub — histograms are exactly regenerable.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5550408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DF2F0"/>
          </a:solidFill>
          <a:ln w="952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5605272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SKY130 modeling limitations (flicker noise, subthreshold precision) are rarely stated as explicit boundaries.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5550408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0F9F1"/>
          </a:solidFill>
          <a:ln w="9525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400800" y="5605272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limitations are declared upfront and revisited wherever they could affect a specific reported number.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10972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10972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 ADDRESSES IT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PVT Sensitivity Is a Known, Quantified Problem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figures on how badly uncorrected continuous-time filters drift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RC time-constant drift from process variation and temperature alone in uncorrected continuous-time filters [9]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51960" y="15087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251960" y="1691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514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frequency-response deviation at extreme PVT conditions reported across multiple studies [9,10]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5087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046720" y="1691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514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average tuning error achieved by a dedicated auto-tuning scheme in 55nm CMOS [10] — the bar this project's baseline is measured against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r>
              <a:rPr lang="en-US" sz="13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figures comes from a proprietary process (TSMC, STM PD-SOI, 55nm commercial nodes). No equivalent quantified baseline exists for how badly an </a:t>
            </a:r>
            <a:r>
              <a:rPr lang="en-US" sz="1350" b="1" i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r>
              <a:rPr lang="en-US" sz="13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SKY130 Gm-C filter drifts — this project produces that missing number.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521208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245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0080" y="5321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Chen et al., "A High-Accuracy RC Time-Constant Auto-Tuning Scheme," Micromachines 15(1):166, 2024 (55nm, master-slave tuning, 2.21% avg / 3.67% max error) · Leynes et al., automatic tuning circuit literature (TSMC 0.35µm, ~30% uncorrected drift, up to 50% at extremes)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How the Monte Carlo Sweep Actually Runs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SKY130's mismatch infrastructure, as documented by the open-source-silicon community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904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mismatch mode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9280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Testbench includes .param mc_mm_switch=1 at the top — this is the switch that activates SKY130's per-device AGAUSS-based mismatch models, confirmed via the open_pdks project's own maintainer notes [11].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457200" cy="457200"/>
          </a:xfrm>
          <a:prstGeom prst="ellipse">
            <a:avLst/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97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statistical corner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9981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sky130.lib.spice mc (or the tt_mm/ss_mm variant) rather than a fixed tt/ss/ff corner — this pulls in the Gaussian-distributed device parameters instead of fixed typical values [11,12].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457200" cy="457200"/>
          </a:xfrm>
          <a:prstGeom prst="ellipse">
            <a:avLst/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4864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90448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 per run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306824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.option SEED=&lt;value&gt; (or SEED=random) before each of the 500+ runs — every run then draws a fresh set of randomly perturbed device parameters from the same underlying distributions [11].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29784"/>
            <a:ext cx="457200" cy="457200"/>
          </a:xfrm>
          <a:prstGeom prst="ellipse">
            <a:avLst/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1114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fc, Q, ripple per run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51383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run's AC response is post-processed (Python) to extract the −3dB cutoff frequency, quality factor, and passband ripple — raw data dumped per run rather than relying on in-simulator measurement, for easier debugging and verification.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mismatch coefficients (e.g., vth0_slope) live in the model files but have no independently published silicon-measured validation for SKY130 — motivating this project's Pelgrom cross-check (Slide 11).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PVT Corner Sweep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and PVT corners are complementary, not redundant — best practice combines both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40680" cy="2834640"/>
          </a:xfrm>
          <a:prstGeom prst="roundRect">
            <a:avLst>
              <a:gd name="adj" fmla="val 2258"/>
            </a:avLst>
          </a:prstGeom>
          <a:solidFill>
            <a:srgbClr val="EEF3FB"/>
          </a:solidFill>
          <a:ln w="15240">
            <a:solidFill>
              <a:srgbClr val="245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(device mismatch)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574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local, random, device-to-device variation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runs, each with independently perturbed transistor parameters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the spread a real fabrication batch would show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what corner analysis alone would miss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440680" cy="2834640"/>
          </a:xfrm>
          <a:prstGeom prst="roundRect">
            <a:avLst>
              <a:gd name="adj" fmla="val 2258"/>
            </a:avLst>
          </a:prstGeom>
          <a:solidFill>
            <a:srgbClr val="F0F9F1"/>
          </a:solidFill>
          <a:ln w="1524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PVT Corners (global/systematic)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0574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tt (typical), ss (slow-slow), ff (fast-fast)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Supply: VDD ±10% (1.62V – 1.98V)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−20°C to 85°C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worst-case, die-to-die systematic shift — not random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262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SKY130-specific tooling and tutorials confirm the process ships separate corner files (typical/slow/fast) alongside built-in Monte Carlo mismatch terms, structured to support exactly this combined approach [7,11].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— Can SKY130's Statistical Models Be Trusted?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project's central methodological safeguard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1188720"/>
          </a:xfrm>
          <a:prstGeom prst="roundRect">
            <a:avLst>
              <a:gd name="adj" fmla="val 5385"/>
            </a:avLst>
          </a:prstGeom>
          <a:solidFill>
            <a:srgbClr val="FDF2F0"/>
          </a:solidFill>
          <a:ln w="15240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r>
              <a:rPr lang="en-US" sz="13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SKY130's mismatch coefficients are embedded in the PDK's model files, but no independently published, silicon-measured mismatch dataset exists to verify them against — a documented limitation, not a hidden 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85800" y="2971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Pelgrom hand-calculation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29718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mismatch slope coefficient (e.g., vth0_slope) directly from the SKY130 model file; hand-compute the expected σ(Vth) vs. 1/√(WL) using the classical Pelgrom matching law; confirm the 500-run Monte Carlo reproduces this independent prediction.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85800" y="4114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Cross-simulator check (stretch goal)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41148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feasible, re-run key Monte Carlo results in a second, independent simulator to confirm findings are not an artifact of one tool's specific implementation of SKY130's mismatch models.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5166360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85800" y="5257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vs. transient cross-check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52578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AC-domain results (e.g., cutoff frequency) are cross-checked against an independent transient-domain measurement of the same circuit, guarding against method-specific artifacts.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Results and Figure List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maps directly to one of the project's six objectives (Slide 2)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804959"/>
              </p:ext>
            </p:extLst>
          </p:nvPr>
        </p:nvGraphicFramePr>
        <p:xfrm>
          <a:off x="457200" y="1463040"/>
          <a:ext cx="11247120" cy="48463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Figure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Nominal AC response (magnitude, phase)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Confirms baseline design meets fc=1kHz, Q=0.9 before statistics begin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Monte Carlo histogram — cutoff frequency (500+ runs)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Central statistical deliverable — quantifies fc spread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Monte Carlo histogram — quality factor Q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Quantifies Q spread across the same population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Monte Carlo histogram — passband ripple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Completes the three-parameter statistical characterization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PVT corner bar chart (fc shift, 5 corners)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Bounds worst-case systematic drift vs. random mismatch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Pelgrom hand-calc overlay on MC data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Cross-validates SKY130's mismatch model against independent theory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AC vs. transient cross-check plot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Confirms results aren't a single-method artifact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T-I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Summary statistics table (mean, σ, corner extremes)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The designer-facing takeaway — the paper's headline reference table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Mitigations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documented, real-world friction reported by the SKY130 community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953968"/>
              </p:ext>
            </p:extLst>
          </p:nvPr>
        </p:nvGraphicFramePr>
        <p:xfrm>
          <a:off x="457200" y="1463040"/>
          <a:ext cx="11247120" cy="45720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05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105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05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B03A2E"/>
                          </a:solidFill>
                        </a:rPr>
                        <a:t>SKY130 Monte Carlo/mismatch setup has documented rough edges</a:t>
                      </a:r>
                      <a:endParaRPr lang="en-US" sz="16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Community threads report actual ngspice errors from parameter/device-name collisions requiring manual model-file patches [13]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</a:rPr>
                        <a:t>Budget real contingency time; fallback to 200-run campaign (matches Kumngern et al. [1] precedent) if needed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B03A2E"/>
                          </a:solidFill>
                        </a:rPr>
                        <a:t>Mismatch coefficients are unverified against real silicon</a:t>
                      </a:r>
                      <a:endParaRPr lang="en-US" sz="16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No published room-temperature silicon-measured mismatch dataset exists for SKY130 [3,14]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</a:rPr>
                        <a:t>Pelgrom hand-calculation cross-check (Slide 11) bounds trust in the models independently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B03A2E"/>
                          </a:solidFill>
                        </a:rPr>
                        <a:t>INDICON 2026's 31 Aug deadline is tight</a:t>
                      </a:r>
                      <a:endParaRPr lang="en-US" sz="16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Confirmed date leaves 6–7 weeks total for design + simulation + writing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</a:rPr>
                        <a:t>Front-loaded timeline (Slide 13); PVT sweep can trim to fewer corners if week 5 slips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B03A2E"/>
                          </a:solidFill>
                        </a:rPr>
                        <a:t>A closely matching open-SKY130 study is found in a fresh search</a:t>
                      </a:r>
                      <a:endParaRPr lang="en-US" sz="16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Open-SKY130 analog work is proliferating quickly through 2025–2026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</a:rPr>
                        <a:t>Narrow to a specific sub-angle (tuning-scheme robustness, cross-simulator validation) while keeping core MC infrastructure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Venues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112471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828800" cy="365760"/>
          </a:xfrm>
          <a:prstGeom prst="roundRect">
            <a:avLst>
              <a:gd name="adj" fmla="val 37500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TARGET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762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INDICON 2026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719072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opens 22 Jun 2026 · deadline 31 Aug 2026 · notification 2 Nov 2026 · camera-ready 16 Nov 2026. Track: Electronic Devices, Circuits, VLSI, and Embedded Systems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112471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828800" cy="365760"/>
          </a:xfrm>
          <a:prstGeom prst="roundRect">
            <a:avLst>
              <a:gd name="adj" fmla="val 37500"/>
            </a:avLst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008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target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6850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iSES 2026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3227832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pattern: submission closed 30 Aug, notification 10 Sept (2026 dates to be confirmed on official site)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112471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1828800" cy="365760"/>
          </a:xfrm>
          <a:prstGeom prst="roundRect">
            <a:avLst>
              <a:gd name="adj" fmla="val 37500"/>
            </a:avLst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0080" y="4754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option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1937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INDISCON 2026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4736592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11–13, 2026, MNIT Jaipur — includes a Graduate Research Forum for student work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Reference List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M. Kumngern, K. Aupithak, F. Khateb, T. Kulej, "0.5V Fifth-Order Butterworth Low-Pass Filter Using Multiple-Input OTA for ECG Applications," Sensors, 20(24):7343, 2020.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602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F. Aiello et al., "Design of a Linear Transconductance OTA using the Open Sky130 Process Design Kit," ResearchGate preprint / SForum 2023.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michaelk99, "SKY130_CT-DSM," GitHub repository, accessed 2026.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460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Z. Li et al., "AnalogGym: An Open and Practical Testing Suite for Analog Circuit Synthesis," Proc. IEEE/ACM ICCAD, 2024, arXiv:2409.08534.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889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SkyWater Technology and Google, "SKY130 Open Source PDK Documentation — Simulation," skywater-pdk.readthedocs.io/en/main/sim.html, accessed 2026.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318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IEEE India Council, "INDICON 2026 Call for Papers," 2026.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747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VLSI Design Automation (UCSC), "SKY130 PDK: Device Models, Binning, and Monte Carlo Mismatch," Chip Tutorials, GitHub, accessed 2026.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176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S. Lee and B. Razavi, "Gm-C Filters and Their Applications in RF Front-Ends and Read Channels," general reference.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605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Arcel G. Leynes et al., "A Simple On-Chip Automatic Tuning Circuit for Continuous-Time Filter," TSMC 0.35µm CMOS — reports ~30% RC time-constant drift from PVT, up to 50% at extremes.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5034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Y. Chen et al., "A High-Accuracy RC Time-Constant Auto-Tuning Scheme for Integrated Continuous-Time Filters," Micromachines, 15(1):166, 2024 — 55nm CMOS, 2.21% avg / 3.67% max tuning error.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846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open_pdks project (R. Timothy Edwards), community threads on mc_mm_switch, SEED randomization, and mismatch coefficient structure, open-source-silicon.dev, 2021–2022.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1892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lhrodovalho, AICSP2022RAIL testbench example (tb_ol_ac_df_mc.spice), GitHub — reference ngspice mismatch testbench structure.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5321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open-source-silicon.dev community thread on ngspice parameter/device-name collisions in SKY130 mismatch simulation, documenting real setup friction.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8750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Beall et al., "DC Cryogenic Modeling of Open-Source SkyWater 130nm MOSFETs at 77K Using BSIM4," arXiv:2604.21625 — confirms no experimentally validated mismatch/corner data exists for SKY130 even in extended studies.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3975</Words>
  <Application>Microsoft Office PowerPoint</Application>
  <PresentationFormat>Widescreen</PresentationFormat>
  <Paragraphs>346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Jaidev Karthikeyan</cp:lastModifiedBy>
  <cp:revision>5</cp:revision>
  <dcterms:created xsi:type="dcterms:W3CDTF">2026-08-26T18:52:00Z</dcterms:created>
  <dcterms:modified xsi:type="dcterms:W3CDTF">2026-10-05T11:49:24Z</dcterms:modified>
</cp:coreProperties>
</file>