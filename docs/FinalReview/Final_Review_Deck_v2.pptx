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5" r:id="rId36"/>
    <p:sldId id="257" r:id="rId3"/>
    <p:sldId id="280" r:id="rId31"/>
    <p:sldId id="281" r:id="rId3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9"/>
    <p:sldId id="279" r:id="rId30"/>
    <p:sldId id="282" r:id="rId33"/>
    <p:sldId id="283" r:id="rId34"/>
    <p:sldId id="284" r:id="rId35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4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6.xml"/><Relationship Id="rId5" Type="http://schemas.openxmlformats.org/officeDocument/2006/relationships/slide" Target="slides/slide7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35.xml"/><Relationship Id="rId21" Type="http://schemas.openxmlformats.org/officeDocument/2006/relationships/slide" Target="slides/slide36.xml"/><Relationship Id="rId22" Type="http://schemas.openxmlformats.org/officeDocument/2006/relationships/slide" Target="slides/slide37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4.xml"/><Relationship Id="rId32" Type="http://schemas.openxmlformats.org/officeDocument/2006/relationships/slide" Target="slides/slide5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dev Karthikeyan" userId="b1e3b4bc5c833d89" providerId="LiveId" clId="{23A0A22E-5922-44B1-960A-C1F3728A4CF6}"/>
    <pc:docChg chg="custSel modSld">
      <pc:chgData name="Jaidev Karthikeyan" userId="b1e3b4bc5c833d89" providerId="LiveId" clId="{23A0A22E-5922-44B1-960A-C1F3728A4CF6}" dt="2026-10-05T11:49:20.414" v="134" actId="478"/>
      <pc:docMkLst>
        <pc:docMk/>
      </pc:docMkLst>
      <pc:sldChg chg="addSp delSp modSp mod">
        <pc:chgData name="Jaidev Karthikeyan" userId="b1e3b4bc5c833d89" providerId="LiveId" clId="{23A0A22E-5922-44B1-960A-C1F3728A4CF6}" dt="2026-10-05T11:49:20.414" v="134" actId="478"/>
        <pc:sldMkLst>
          <pc:docMk/>
          <pc:sldMk cId="0" sldId="256"/>
        </pc:sldMkLst>
        <pc:spChg chg="add del mod">
          <ac:chgData name="Jaidev Karthikeyan" userId="b1e3b4bc5c833d89" providerId="LiveId" clId="{23A0A22E-5922-44B1-960A-C1F3728A4CF6}" dt="2026-10-05T11:49:20.414" v="134" actId="478"/>
          <ac:spMkLst>
            <pc:docMk/>
            <pc:sldMk cId="0" sldId="256"/>
            <ac:spMk id="5" creationId="{0F132F14-BB4A-32C8-8543-43B27E69ED1B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71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· SIMULATION-ONLY RESEARCH PROJECT — SKY130 / ngspice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Continuous-Time Filter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Open-Source SKY130 PDK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Monte Carlo and PVT-Corner Study, with a PTAT-Biased Design That Recovers Yield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review covers, in the order of the slides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457200" y="1400000"/>
            <a:ext cx="555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7200" y="1550000"/>
            <a:ext cx="365760" cy="365760"/>
          </a:xfrm>
          <a:prstGeom prst="ellipse">
            <a:avLst/>
          </a:prstGeom>
          <a:solidFill>
            <a:srgbClr val="24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7200" y="1510000"/>
            <a:ext cx="33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7200" y="1530000"/>
            <a:ext cx="155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Slides 3–5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7200" y="1960000"/>
            <a:ext cx="47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What the project sets out to do and what changed since Review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7200" y="1400000"/>
            <a:ext cx="555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7200" y="1550000"/>
            <a:ext cx="365760" cy="365760"/>
          </a:xfrm>
          <a:prstGeom prst="ellipse">
            <a:avLst/>
          </a:prstGeom>
          <a:solidFill>
            <a:srgbClr val="24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7200" y="1510000"/>
            <a:ext cx="33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Circuit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7200" y="1530000"/>
            <a:ext cx="155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Slides 6–13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7200" y="1960000"/>
            <a:ext cx="47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3-OTA Gm-C biquad, OTA, bias schemes, equations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50000"/>
            <a:ext cx="555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7200" y="2800000"/>
            <a:ext cx="365760" cy="365760"/>
          </a:xfrm>
          <a:prstGeom prst="ellipse">
            <a:avLst/>
          </a:prstGeom>
          <a:solidFill>
            <a:srgbClr val="24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200" y="2760000"/>
            <a:ext cx="33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Literature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7200" y="2780000"/>
            <a:ext cx="155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Slides 14–17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7200" y="3210000"/>
            <a:ext cx="47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Prior work, the verified gap, and what this project adds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7200" y="2650000"/>
            <a:ext cx="555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7200" y="2800000"/>
            <a:ext cx="365760" cy="365760"/>
          </a:xfrm>
          <a:prstGeom prst="ellipse">
            <a:avLst/>
          </a:prstGeom>
          <a:solidFill>
            <a:srgbClr val="24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7200" y="2760000"/>
            <a:ext cx="33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Methodology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7200" y="2780000"/>
            <a:ext cx="155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Slides 18–21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7200" y="3210000"/>
            <a:ext cx="47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PVT grid, Monte Carlo, cross-validation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900000"/>
            <a:ext cx="555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7200" y="4050000"/>
            <a:ext cx="365760" cy="365760"/>
          </a:xfrm>
          <a:prstGeom prst="ellipse">
            <a:avLst/>
          </a:prstGeom>
          <a:solidFill>
            <a:srgbClr val="24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7200" y="4010000"/>
            <a:ext cx="33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7200" y="4030000"/>
            <a:ext cx="155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Slides 22–27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7200" y="4460000"/>
            <a:ext cx="47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Nominal response, distributions, yield, PTAT 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7200" y="3900000"/>
            <a:ext cx="555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07200" y="4050000"/>
            <a:ext cx="365760" cy="365760"/>
          </a:xfrm>
          <a:prstGeom prst="ellipse">
            <a:avLst/>
          </a:prstGeom>
          <a:solidFill>
            <a:srgbClr val="24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7200" y="4010000"/>
            <a:ext cx="33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Demonstration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7200" y="4030000"/>
            <a:ext cx="155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Slides 28–31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07200" y="4460000"/>
            <a:ext cx="47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Live Monte Carlo and PVT app, run-of-show, cross-checks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150000"/>
            <a:ext cx="555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7200" y="5300000"/>
            <a:ext cx="365760" cy="365760"/>
          </a:xfrm>
          <a:prstGeom prst="ellipse">
            <a:avLst/>
          </a:prstGeom>
          <a:solidFill>
            <a:srgbClr val="24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7200" y="5260000"/>
            <a:ext cx="33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Output explanation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7200" y="5280000"/>
            <a:ext cx="155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Slides 32–33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7200" y="5710000"/>
            <a:ext cx="47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How to read every plot, and the three design lessons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57200" y="5150000"/>
            <a:ext cx="5550000" cy="11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07200" y="5300000"/>
            <a:ext cx="365760" cy="365760"/>
          </a:xfrm>
          <a:prstGeom prst="ellipse">
            <a:avLst/>
          </a:prstGeom>
          <a:solidFill>
            <a:srgbClr val="24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7200" y="5260000"/>
            <a:ext cx="33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Conclusion, risks, references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7200" y="5280000"/>
            <a:ext cx="155000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Slides 34–37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07200" y="5710000"/>
            <a:ext cx="47000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Findings, limits, future scope, open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the Project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EF3FB"/>
          </a:solidFill>
          <a:ln w="12700">
            <a:solidFill>
              <a:srgbClr val="245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statistically characterize — not just verify at a single nominal point — how much a second-order Gm-C low-pass filter's cutoff frequency, quality factor, and passband ripple actually vary once realistic device mismatch and PVT conditions are accounted for, entirely within the free, open-source SKY130 process.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36576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 sz="2000"/>
          </a:p>
        </p:txBody>
      </p:sp>
      <p:sp>
        <p:nvSpPr>
          <p:cNvPr id="6" name="Shape 4"/>
          <p:cNvSpPr/>
          <p:nvPr/>
        </p:nvSpPr>
        <p:spPr>
          <a:xfrm>
            <a:off x="621792" y="2798064"/>
            <a:ext cx="365760" cy="36576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21792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099816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working Gm-C filter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703320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Gm-C biquad from three identical SKY130 OTAs (mirror load, tail current source) and two 10 pF capacitors, targeting fc = 1.6 MHz, Q = 0.707, with a PTAT-referenced bias current.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2651760"/>
            <a:ext cx="36576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16552" y="2798064"/>
            <a:ext cx="365760" cy="36576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416552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3246120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statistical spread via Monte Carlo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416552" y="3703320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750 randomized mismatch simulations per PVT condition (33,750 per design) using SKY130's statistical models; report the distributions of f3, Q, ripple and spec yield.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651760"/>
            <a:ext cx="36576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11312" y="2798064"/>
            <a:ext cx="365760" cy="36576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211312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3246120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PVT robustness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11312" y="3703320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five process corners (tt/ss/ff/sf/fs), supply ±10% and −20 to 85°C (45 conditions), comparing fixed voltage bias against PTAT bias.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599432"/>
            <a:ext cx="36576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1792" y="4745736"/>
            <a:ext cx="365760" cy="36576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21792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5193792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 the results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5650992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results agree with transient simulation (within 0.03 dB) and a tight-tolerance solver rerun (within 0.2%). A second simulator, Xyce 7.10, matches ngspice on the nominal response (0.001%) and on 30 injected-mismatch runs (within 0.003%).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4599432"/>
            <a:ext cx="36576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416552" y="4745736"/>
            <a:ext cx="365760" cy="36576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4416552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416552" y="5193792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 verified literature gap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416552" y="5650992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work combines statistical characterization + open-source PDK + complete filter + released netlists — this project sits at that four-way intersection (see Slide 16).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4599432"/>
            <a:ext cx="36576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211312" y="4745736"/>
            <a:ext cx="365760" cy="36576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8211312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5193792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everything openly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11312" y="5650992"/>
            <a:ext cx="3328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netlists, Monte Carlo seeds, analysis scripts and the live lab app are archived with checksums for open release on GitHub, a reusable reference and not just a set of numbers.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vs Final Review — What Changed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presented at Review 1 against what was delivered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804959"/>
              </p:ext>
            </p:extLst>
          </p:nvPr>
        </p:nvGraphicFramePr>
        <p:xfrm>
          <a:off x="457200" y="1330000"/>
          <a:ext cx="11247120" cy="4920000"/>
        </p:xfrm>
        <a:graphic>
          <a:graphicData uri="http://schemas.openxmlformats.org/drawingml/2006/table">
            <a:tbl>
              <a:tblPr/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Review 1 (plan)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Final review (delivered)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Circuit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2 OTAs with CMFB, output buffer and R_fb/C_fb (schematic only)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3-OTA biquad with PTAT current bias, simulated and measured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fc = 1 kHz, Q = 0.9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fc = 1.6 MHz, Q target 0.707, achieved about 0.72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Monte Carlo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500+ runs (fallback 200)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750 runs at each of 45 conditions: 33,750 runs per design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PVT sweep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tt / ss / ff, ±10% supply, −20 to 85 °C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5 corners × 3 supplies × 3 temperatures, full Monte Carlo at every point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Question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How much do f3, Q and ripple spread?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Same, plus: can the bias scheme recover yield? 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Headline result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None yet, figures only planned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Yield 22.4% → 88.7% (ideal ref.), 71.7% (transistor-level ref.); worst mean f3 error 0.94 → 0.08 / 0.29 MHz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Validation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Pelgrom check, AC vs transient, Xyce nominal check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Sensitivity check 5.6% vs 5.9%; AC vs transient 0.03 dB; tolerance rerun 0.2%; Xyce nominal 0.001%, 30 injected draws 0.003%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Release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GitHub release of netlists and scripts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Archive with checksums and live lab app built; GitHub publication pending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Proposal and design stage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Study complete, report written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Objectives — Where Each One Stands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as stated at Review 1, with the final status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804959"/>
              </p:ext>
            </p:extLst>
          </p:nvPr>
        </p:nvGraphicFramePr>
        <p:xfrm>
          <a:off x="457200" y="1330000"/>
          <a:ext cx="11247120" cy="34200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Objective (Review 1)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Final status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Design a working Gm-C filter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MET — retargeted to 1.6 MHz, Q 0.72, three-OTA biquad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500+ Monte Carlo runs: f3, Q, ripple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EXCEEDED — 750 runs per condition, 33,750 per design; ripple mean 0.03 dB, max 0.35 dB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PVT robustness sweep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EXCEEDED — 5 corners, 45 conditions, plus a voltage vs PTAT comparison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Cross-validate the results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DONE — sensitivity, AC vs transient, tolerance rerun, Xyce nominal and injected-mismatch match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Fill a verified literature gap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1A7F4B"/>
                          </a:solidFill>
                        </a:rPr>
                        <a:t>MET — open-PDK, filter-level baseline plus a quantified recovery; search to be repeated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6B7280"/>
                          </a:solidFill>
                        </a:rPr>
                        <a:t>Release everything openly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b="0">
                          <a:solidFill>
                            <a:srgbClr val="B3261E"/>
                          </a:solidFill>
                        </a:rPr>
                        <a:t>PENDING — archive and lab app ready; GitHub publication outstanding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Under Test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Three-OTA Gm-C second-order low-pass filter with PTAT current bias (SKY130)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Picture 6" descr="fig_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3848" y="1234440"/>
            <a:ext cx="8244000" cy="52117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Architecture — Key Sub-Blocks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EEF3FB"/>
          </a:solidFill>
          <a:ln w="16510">
            <a:solidFill>
              <a:srgbClr val="245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85800" y="1581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OTA1 / OTA2 / OTA3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8424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M1/M2 differential pair (4µ/0.5µ) · M3 diode-connected, M4 mirror (8µ/0.5µ PMOS load) · M5 tail (6µ/1µ). Three identical cells; OTA1 and OTA2 integrate onto C1 and C2.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3EBFB"/>
          </a:solidFill>
          <a:ln w="16510">
            <a:solidFill>
              <a:srgbClr val="7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0" y="1581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PTAT Tail Current Bias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8424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Iref·(T/300 K)^0.6 with Iref = 12 µA into diode-connected Mb (6µ/1µ), mirrored to the M5 gates of OTA1 and OTA2. OTA3's tail takes 1.48 × Iref.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DF2F0"/>
          </a:solidFill>
          <a:ln w="1651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85800" y="3547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OTA3: Q Control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5020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tied to its inverting input, so it acts as a 1/gm3 resistor across C1. The tail-current ratio of 1.48 sets Q ≈ 0.72.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3383280"/>
            <a:ext cx="5486400" cy="1783080"/>
          </a:xfrm>
          <a:prstGeom prst="roundRect">
            <a:avLst>
              <a:gd name="adj" fmla="val 3590"/>
            </a:avLst>
          </a:prstGeom>
          <a:solidFill>
            <a:srgbClr val="F0F9F1"/>
          </a:solidFill>
          <a:ln w="1651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00800" y="3547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Output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95020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Vo2 feeds back directly to OTA1's inverting input (no R_fb/C_fb). The filter output is taken at Vo2, with no output buffer.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Circuit Breakdown — Signal 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enters OTA1, integrates through OTA1 and OTA2 onto Vo1 and Vo2, and exits at Vo2 (OTA3 damps Vo1)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651" y="3755292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→ OTA1: </a:t>
            </a:r>
            <a:r>
              <a:rPr lang="en-US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signal drives OTA1's non-inverting input (IN1+)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22A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IN1− carries the unity feedback from Vo2. </a:t>
            </a: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OUT1/Vo1 → OTA2: </a:t>
            </a:r>
            <a:r>
              <a:rPr lang="en-US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OTA1's output charges C1 (10pF); OTA3, tied as a resistor, damps this node, and Vo1 drives OTA2's non-inverting input.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222A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OUT2/Vo2 → Vout: </a:t>
            </a:r>
            <a:r>
              <a:rPr lang="en-US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OTA2's output charges C2; the filter output is taken directly at Vo2 (no buffer) and fed back to OTA1.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8" name="Picture 7" descr="fig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462" y="1330000"/>
            <a:ext cx="9703076" cy="238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Circuit Breakdown — Input Differential Pair (M1, M2)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structure in OTA1, OTA2 and OTA3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08660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7556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M1, M2 — NMOS, sky130_fd_pr__nfet_01v8, W/L = 4µ/0.5µ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28529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differential input voltage (IN+/IN−) into a differential drain current — this is the transconductance (gm) stage that gives the OTA its name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39502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= IN1+/IN1− (the two OTA inputs). Sources joined at one common node, which drops to M5's drain (the tail). Drains feed up into M3/M4 (the mirror load)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496297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4µ/0.5µ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3949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via gm/ID methodology to hit the target gm ≈ 100 µA/V needed for fc = 1.6 MHz with C1/C2 = 10pF (fc = gm/2πC); larger devices reduce mismatch (Pelgrom's law) at the cost of more parasitic capacitance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4BFA954-8292-B21F-E52F-6A79BC3A9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73" y="1737360"/>
            <a:ext cx="5097087" cy="37587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Circuit Breakdown — PMOS Current-Mirror Load (M3, M4)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active load that converts differential current into a usable output voltage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0866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70992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M3, M4 — PMOS, sky130_fd_pr__pfet_01v8, W/L = 8µ/0.5µ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diode-connected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262432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tied directly to its own drain. This sets a fixed reference voltage that establishes the mirror's bias point — a self-biasing configuration, not an externally supplied one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mirror device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3630168"/>
            <a:ext cx="4572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tied to M3's gate (not its own drain), so it copies M3's gate-source voltage. Since M1's current sets M3's operating point, M4 mirrors that same current onto M2's side — but any imbalance in M1/M2's currents shows up as a voltage swing at OUT1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49000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PMOS (not NMOS)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281353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connect to VDD, which lets the drains sit at a mid-rail voltage suitable for driving the next stage — a standard choice for an NMOS-input differential pair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C44B256-CEEC-6900-F32B-D2252220E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54" y="1599646"/>
            <a:ext cx="4876800" cy="37587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Circuit Breakdown — Tail Current Source (M5)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total bias current available to the differential pair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08660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7556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NMOS, sky130_fd_pr__nfet_01v8, W/L = 6µ/1µ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28529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connects to the M1/M2 common-source node; source to ground. Acts as a current sink, fixing the total current that M1 and M2 must share between them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drive</a:t>
            </a: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39502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= vbn from the PTAT-referenced mirror (vbn3 for OTA3): a fixed mirror voltage, not a CMFB-corrected node. See Slide 13.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48234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gm</a:t>
            </a:r>
            <a:endParaRPr lang="en-US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277473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 current sets M1/M2's operating point and therefore gm; since fc = gm/C, this node is the filter's tuning handle, and making the current PTAT cancels the temperature drift of gm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C6B3D9-D05B-E33A-C267-5BDE1FD49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09" y="1783080"/>
            <a:ext cx="4876800" cy="37587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Circuit Breakdown — OTA2 and OTA3 (Identical Structure)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M1–M5 topology as OTA1, used as an integrator (OTA2) and as a damping element (OTA3)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086600" y="146304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identical: </a:t>
            </a:r>
            <a:r>
              <a:rPr lang="en-US" sz="16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three OTAs' device sizes keeps the transfer function predictable; the biquad's gm ratios come from the bias currents, not from sizing.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Connections: </a:t>
            </a:r>
            <a:r>
              <a:rPr lang="en-US" sz="16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OTA2: IN+ = Vo1, IN− = Vcm, output Vo2. OTA3: IN+ = Vcm, IN− and output both at Vo1, so it behaves as a resistor of 1/gm3 across C1. 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resources: </a:t>
            </a:r>
            <a:r>
              <a:rPr lang="en-US" sz="16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OTA1 and OTA2 tails take vbn; OTA3's tail takes vbn3 = 1.48 × Iref from the Mb3 branch.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AEBBFB-FEC9-925C-EABB-A94613F39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75" y="1783080"/>
            <a:ext cx="5340925" cy="3073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Circuit Breakdown — PTAT Current Bias Generator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 circuit that holds fc steady across temperature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6118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Iref(T) = 12 µA × (T/300.15 K)^0.6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3611880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ideal reference with exponent 0.6 keeps gm and f3 flat from −20 to 85 °C (upper bound). A transistor-level beta-multiplier core (exponent about 0.66) was also simulated.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702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→ vbn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26280" y="4270248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Diode-connected NMOS Mb (6µ/1µ) converts the current to the gate voltage vbn, which drives the M5 tails of OTA1 and OTA2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928616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leg: 1.48 × Iref → vbn3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4928616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ratioed second reference sets OTA3's tail. The ratio rt = 1.48 sets Q ≈ 0.72 and is the most sensitive parameter (±5% moves yield by up to about 10 points)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5869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Transistor-level check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5586984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core's own mismatch and supply sensitivity (1,800 runs): mean yield 71.7% (ideal source 88.7%, voltage bias 22.4%). The core's supply dependence is the main loss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5" name="Picture 14" descr="fig_b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769" y="1330000"/>
            <a:ext cx="9138461" cy="22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Landscape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rigor and open-source accessibility have never appeared together at the filter level — until now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897751"/>
              </p:ext>
            </p:extLst>
          </p:nvPr>
        </p:nvGraphicFramePr>
        <p:xfrm>
          <a:off x="457200" y="1600200"/>
          <a:ext cx="11247120" cy="393192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Study / Source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Statistical Char.?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Open PDK?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Filter-Level?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Scripts Released?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Aiello et al. — Linear</a:t>
                      </a:r>
                      <a:endParaRPr lang="en-US" sz="1400" dirty="0"/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Transconductance OTA [2]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 (device only)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Kumngern et al. —</a:t>
                      </a:r>
                      <a:endParaRPr lang="en-US" sz="1400" dirty="0"/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5th-Order Butterworth [1]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 (200 MC)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 (TSMC 0.18µm)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SKY130_CT-DSM [3]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 (sub-block)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AnalogGym (ICCAD 2024) [4]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Framework-level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 (framework)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SKY130 PVT/MC tooling [5,7]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 (cell-level)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Yes (tooling)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PROPOSED STUDY (this work)</a:t>
                      </a:r>
                      <a:endParaRPr lang="en-US" sz="16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Yes (750 MC × 45 PVT)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Yes (full release)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2020 has the statistical rigor but not the open process; open-SKY130 work has the open process but not the statistical rigor. The proposed study is the only entry combining all four properties.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References Mapped to Project Components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reference is cited for a specific role in the design, methodology, or positioning of this project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41062"/>
              </p:ext>
            </p:extLst>
          </p:nvPr>
        </p:nvGraphicFramePr>
        <p:xfrm>
          <a:off x="579120" y="1356360"/>
          <a:ext cx="11247120" cy="5181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Ref.</a:t>
                      </a:r>
                      <a:endParaRPr lang="en-US" sz="18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8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Role in This Project</a:t>
                      </a:r>
                      <a:endParaRPr lang="en-US" sz="18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[1]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Kumngern et al., Sensors 2020 (5th-Order Butterworth LPF, TSMC 0.18µm)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Methodology template — the 200-run Monte Carlo protocol this project's 500+ run campaign directly adopts and extends (Slide 18: Monte Carlo &amp; PVT methodology)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[2]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Aiello et al. — Linear Transconductance OTA, Open SKY130 PDK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Confirms SKY130 is a credible transconductor-level design platform; the closest prior open-SKY130 OTA work, but stops at the device level (Slide 7: OTA1/OTA2 building blocks)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[3]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SKY130_CT-DSM (GitHub repository)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Flags SKY130's large flicker-noise coefficient — a modeling limitation carried into this project's honest-limitations section (Slide 34: known SKY130 constraints)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[4]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AnalogGym, ICCAD 2024 (arXiv:2409.08534)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Documents open-PDK subthreshold modeling weaknesses generally — grounds this project's decision to cross-validate AC vs. transient results rather than trust one method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[5]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SkyWater SKY130 PDK Documentation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Source of the device models and Monte Carlo/mismatch parameter structure used directly in every simulation (Slides 9–11: schematic devices M1–M5, Mb)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[6]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IEEE INDICON 2026 Call for Papers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Defines the target venue, submission deadline (31 Aug 2026), and track scope driving the project timeline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[7]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VLSIDA SKY130 Tutorials — Device Models, Binning, Monte Carlo Mismatch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Confirms SKY130 ships corner files (tt/ss/ff) alongside Monte Carlo terms — basis for this project's combined MC + PVT sweep methodology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[9,10]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Silva-Martinez &amp; Vazquez-Gonzalez; Chen et al. (Gm-C/RC tuning under PVT)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Establishes PVT sensitivity (up to 30% time-constant drift uncorrected) as a well-recognized concern — motivates why this project's PVT sweep matters beyond mismatch alone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Project Fills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952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472184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Open-SKY130 OTA work exists only at the device level, never assembled into a complete filter.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41732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0F9F1"/>
          </a:solidFill>
          <a:ln w="952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400800" y="1472184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SKY130 OTAs form a working 2nd-order Gm-C low-pass biquad, evaluated as an integrated system.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50592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952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2505456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(Monte Carlo/PVT) characterization of Gm-C filters exists only in proprietary nodes (e.g., TSMC 0.18µm).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450592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0F9F1"/>
          </a:solidFill>
          <a:ln w="952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0" y="2505456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identical methodology, 750 MC runs × 45 PVT conditions (5 corners, ±10% supply, −20 to 85°C), is applied natively inside the open SKY130 PDK.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83864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952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94360" y="3538728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SKY130 filter/OTA papers report only a single nominal-case simulation.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483864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0F9F1"/>
          </a:solidFill>
          <a:ln w="952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400800" y="3538728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deliverable is the full distribution (mean, σ, corner extremes) of fc, Q, and ripple — not one operating point.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517136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952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94360" y="4572000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reproducible, openly released netlist/script package exists for SKY130 filter-level statistical analysis.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4517136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0F9F1"/>
          </a:solidFill>
          <a:ln w="952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00800" y="4572000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netlist, testbench, MC seed, and analysis script is archived with checksums for GitHub release — histograms are exactly regenerable.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550408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DF2F0"/>
          </a:solidFill>
          <a:ln w="9525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5605272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SKY130 modeling limitations (flicker noise, subthreshold precision) are rarely stated as explicit boundaries.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5550408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0F9F1"/>
          </a:solidFill>
          <a:ln w="952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00800" y="5605272"/>
            <a:ext cx="5166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limitations are declared upfront and revisited wherever they could affect a specific reported number.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10972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10972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ADDRESSES IT</a:t>
            </a: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PVT Sensitivity Is a Known, Quantified Problem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figures on how badly uncorrected continuous-time filters drift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RC time-constant drift from process variation and temperature alone in uncorrected continuous-time filters [9]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5087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25196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frequency-response deviation at extreme PVT conditions reported across multiple studies [9,10]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5087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04672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514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average tuning error achieved by a dedicated auto-tuning scheme in 55nm CMOS [10] — the bar this project's baseline is measured against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3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figures comes from a proprietary process (TSMC, STM PD-SOI, 55nm commercial nodes). No equivalent quantified baseline exists for how badly an </a:t>
            </a:r>
            <a:r>
              <a:rPr lang="en-US" sz="1350" b="1" i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r>
              <a:rPr lang="en-US" sz="13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SKY130 Gm-C filter drifts — this project produces that missing number. Result: fixed voltage bias drifts 0.94 MHz (59%) in mean f3 across 45 conditions; PTAT bias holds 0.08 MHz (5%) with an ideal reference and 0.29 MHz (18%) with a transistor-level reference core.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21208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245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5321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Chen et al., "A High-Accuracy RC Time-Constant Auto-Tuning Scheme," Micromachines 15(1):166, 2024 (55nm, master-slave tuning, 2.21% avg / 3.67% max error) · Leynes et al., automatic tuning circuit literature (TSMC 0.35µm, ~30% uncorrected drift, up to 50% at extremes)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How the Monte Carlo Sweep Actually Runs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SKY130's mismatch infrastructure, as documented by the open-source-silicon community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904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mismatch mode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9280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uses a _mm corner (tt_mm, ss_mm, ...), which sets MC_MM_SWITCH=1 globally; the PDK has no per-device mismatch switch (open_pdks maintainer notes [11]).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97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statistical corner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9981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_mm corner variant (e.g. sky130.lib.spice tt_mm) rather than a fixed corner, so Gaussian-distributed device mismatch is applied on top of the corner's process parameters [11,12].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044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 per run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306824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with setseed, then call reset before each of the 750 runs; every run draws a fresh set of perturbed device parameters from the same distributions [11].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457200" cy="457200"/>
          </a:xfrm>
          <a:prstGeom prst="ellipse">
            <a:avLst/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1114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fc, Q, ripple per run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51383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run's AC response is measured in ngspice (−3 dB frequency f3; −90° frequency f90, from which Q is derived) and written per run; statistics and plots are made in Python.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mismatch coefficients (e.g., vth0_slope) live in the model files but have no independently published silicon-measured validation for SKY130 — motivating this project's Pelgrom cross-check (Slide 20).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PVT Corner Sweep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and PVT corners are complementary, not redundant — best practice combines both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2834640"/>
          </a:xfrm>
          <a:prstGeom prst="roundRect">
            <a:avLst>
              <a:gd name="adj" fmla="val 2258"/>
            </a:avLst>
          </a:prstGeom>
          <a:solidFill>
            <a:srgbClr val="EEF3FB"/>
          </a:solidFill>
          <a:ln w="15240">
            <a:solidFill>
              <a:srgbClr val="245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(device mismatch)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local, random, device-to-device variation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runs per condition, each with independently perturbed transistor parameters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spread a real fabrication batch would show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what corner analysis alone would miss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40680" cy="2834640"/>
          </a:xfrm>
          <a:prstGeom prst="roundRect">
            <a:avLst>
              <a:gd name="adj" fmla="val 2258"/>
            </a:avLst>
          </a:prstGeom>
          <a:solidFill>
            <a:srgbClr val="F0F9F1"/>
          </a:solidFill>
          <a:ln w="1524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 Corners (global/systematic)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0574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tt, ss, ff, sf, fs (five corners)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Supply: VDD ±10% (1.62V – 1.98V)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−20°C to 85°C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worst-case, die-to-die systematic shift — not random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SKY130-specific tooling and tutorials confirm the process ships separate corner files (typical/slow/fast) alongside built-in Monte Carlo mismatch terms, structured to support exactly this combined approach [7,11].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— Can SKY130's Statistical Models Be Trusted?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project's central methodological safeguard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1188720"/>
          </a:xfrm>
          <a:prstGeom prst="roundRect">
            <a:avLst>
              <a:gd name="adj" fmla="val 5385"/>
            </a:avLst>
          </a:prstGeom>
          <a:solidFill>
            <a:srgbClr val="FDF2F0"/>
          </a:solidFill>
          <a:ln w="15240">
            <a:solidFill>
              <a:srgbClr val="B03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sz="13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SKY130's mismatch coefficients are embedded in the PDK's model files, but no independently published, silicon-measured mismatch dataset exists to verify them against — a documented limitation, not a hidden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(Pelgrom-style) check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9718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σ(Vgs) from the PDK mismatch slopes (pair 2.8 mV, tail 1.5 mV, load 2.9 mV), propagated through simulated sensitivities, predicts f3 σ 5.6% and Q σ 3.6%. The 750-run Monte Carlo gives 5.9% and 3.7%.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85800" y="4114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Cross-simulator check (Xyce, passed)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41148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netlist in Xyce 7.10: DC point matches to ~6 digits; nominal f3 and Q agree to 0.001%. Xyce ignores the PDK mismatch model, so the same 30 injected gate-offset draws ran in both: per-run f3 differs by at most 0.003%, Q by 0.014%. Checks the simulator, not the PDK's mismatch statistics. Tolerance rerun: f3 changes by at most 0.2%.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166360"/>
            <a:ext cx="11247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85800" y="5257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vs. transient cross-check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52578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and transient simulations of the same circuit agree within 0.03 dB and 0.14° from 100 kHz to 6.4 MHz; a transient step gives 4.8% overshoot, close to the 4.3% ideal for Q = 0.707.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Figure List — Planned at Review 1, Delivered Now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maps directly to one of the project's six objectives (Slide 3)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804959"/>
              </p:ext>
            </p:extLst>
          </p:nvPr>
        </p:nvGraphicFramePr>
        <p:xfrm>
          <a:off x="457200" y="1463040"/>
          <a:ext cx="11247120" cy="48463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Figure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Nominal AC response (magnitude, phase)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Confirms baseline design meets fc = 1.6 MHz, Q ≈ 0.72 before statistics begin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Monte Carlo histogram — cutoff frequency (750 runs per condition)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Central statistical deliverable — quantifies fc spread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Monte Carlo histogram — quality factor Q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Quantifies Q spread across the same population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Monte Carlo histogram — passband ripple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Completes the three-parameter statistical characterization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PVT comparison: f3 shift and yield, voltage vs PTAT bias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Bounds worst-case systematic drift vs. random mismatch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Sensitivity-predicted spread vs Monte Carlo (numbers: 5.6% vs 5.9%)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Cross-validates SKY130's mismatch model against independent theory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AC vs. transient cross-check (numbers: within 0.03 dB, 0.14°)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Confirms results aren't a single-method artifact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456A6"/>
                          </a:solidFill>
                        </a:rPr>
                        <a:t>T-I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Summary statistics table (mean, σ, corner extremes)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The designer-facing takeaway — the paper's headline reference table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PVT Drift and Yield: Voltage Bias vs PTAT Bias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PVT conditions × 750 Monte Carlo runs each, per design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PTAT bias raises mean yield from 22.4% to 88.7% with an ideal reference (87–90% in every corner) and to 71.7% with a transistor-level reference core (slide 26); worst mean f3 error falls from 0.94 MHz (59%) to 0.08 MHz (5%) ideal, 0.29 MHz (18%) transistor-level.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pic>
        <p:nvPicPr>
          <p:cNvPr id="8" name="Picture 7" descr="fig_re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60" y="1330000"/>
            <a:ext cx="10200000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Temperature Behaviour and Mismatch Spread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corner, 1.8 V; mismatch statistics from 750-run sets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PTAT bias removes drift but not mismatch: f3 σ is 6.1% (voltage bias 5.3%); a ×4 reference mirror cuts it to 4.8% (97% yield at 27 °C) at about 70% more power. Worst case: sf, 1.62 V, −20 °C at 73% yield.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pic>
        <p:nvPicPr>
          <p:cNvPr id="8" name="Picture 7" descr="fig_re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07" y="1330000"/>
            <a:ext cx="10164705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Nominal Response and Monte Carlo Distributions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with ngspice 47 in SKY130A: nominal AC response, and f3 and Q histograms at tt, 1.8 V, 27 °C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f3 1.610 MHz, Q 0.722. Histograms: PTAT 1500 runs (seed 2), voltage bias 750 runs; green band = spec window (f3 ±10 %, Q 0.6–0.8).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pic>
        <p:nvPicPr>
          <p:cNvPr id="8" name="Picture 7" descr="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330000"/>
            <a:ext cx="3870000" cy="4300000"/>
          </a:xfrm>
          <a:prstGeom prst="rect">
            <a:avLst/>
          </a:prstGeom>
        </p:spPr>
      </p:pic>
      <p:pic>
        <p:nvPicPr>
          <p:cNvPr id="9" name="Picture 8" descr="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000" y="1450000"/>
            <a:ext cx="72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Ripple, f3–Q Correlation and Yield by Corner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PTAT bias; passband ripple is gain peaking above the passband gain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mean 0.033 dB, largest run 0.35 dB. f3 and Q move together under mismatch. PTAT yield 87.5–89.9 % in every corner vs 6.5–32.7 % for voltage bias.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pic>
        <p:nvPicPr>
          <p:cNvPr id="8" name="Picture 7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500000"/>
            <a:ext cx="3985714" cy="3100000"/>
          </a:xfrm>
          <a:prstGeom prst="rect">
            <a:avLst/>
          </a:prstGeom>
        </p:spPr>
      </p:pic>
      <p:pic>
        <p:nvPicPr>
          <p:cNvPr id="9" name="Picture 8" descr="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000" y="1500000"/>
            <a:ext cx="3616667" cy="3100000"/>
          </a:xfrm>
          <a:prstGeom prst="rect">
            <a:avLst/>
          </a:prstGeom>
        </p:spPr>
      </p:pic>
      <p:pic>
        <p:nvPicPr>
          <p:cNvPr id="10" name="Picture 9" descr="fi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000" y="1500000"/>
            <a:ext cx="3875000" cy="310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Transistor-Level PTAT Bias Core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Beta-multiplier core (poly resistor, natural exponent about 0.66, 12 µA) with mismatch on filter and core: 45 conditions × 40 runs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yield 71.7 % (±2 %): about 3.2× voltage bias, 17 points below the ideal source. Worst: sf, 1.62 V, −20 °C at 17.5 %; best 95 %. The core's supply sensitivity is the main loss.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pic>
        <p:nvPicPr>
          <p:cNvPr id="8" name="Picture 7" descr="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00" y="1400000"/>
            <a:ext cx="11000000" cy="400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Key Numbers at a Glance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set the bias current, same filter, same 45 PVT conditions and mismatch model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= fraction of Monte Carlo runs with f3 within ±10 % of 1.6 MHz and Q in 0.6–0.8. Yield ±0.4 points (ideal PTAT, voltage bias, 750 runs × 45 conditions); ±2 points for the transistor-level core (40 runs × 45).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00000"/>
          <a:ext cx="11247119" cy="301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67396"/>
                <a:gridCol w="2453917"/>
                <a:gridCol w="2453917"/>
                <a:gridCol w="3271889"/>
              </a:tblGrid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Fixed voltage bias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Ideal PTAT current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Transistor-level PTAT core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Mean yield over 45 conditions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22.4 %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88.7 %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71.7 %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Worst mean f3 shift across PVT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0.944 MHz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0.084 MHz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0.285 MHz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f3 spread σ (tt, 1.8 V, 27 °C)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5.32 %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6.07 %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6.75 %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Worst condition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−20 °C and 85 °C: ≈ 0.1 %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still ≥ 87 % per corner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sf, 1.62 V, −20 °C: 17.5 %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Gain over voltage bias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≈ 4× yield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≈ 3.2× yield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Cost / note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Simplest, no extra circuit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Reference model, not a circuit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Real core; supply sensitivity is the loss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800000"/>
            <a:ext cx="3650000" cy="900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7200" y="4840000"/>
            <a:ext cx="3350000" cy="4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456A6"/>
                </a:solidFill>
                <a:latin typeface="Calibri"/>
              </a:rPr>
              <a:t>88.7 %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200" y="5300000"/>
            <a:ext cx="3350000" cy="3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yield with ideal PTAT bias (vs 22.4 %)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7200" y="4800000"/>
            <a:ext cx="365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200" y="4840000"/>
            <a:ext cx="3350000" cy="4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456A6"/>
                </a:solidFill>
                <a:latin typeface="Calibri"/>
              </a:rPr>
              <a:t>0.084 MHz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200" y="5300000"/>
            <a:ext cx="3350000" cy="3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worst f3 shift with PTAT (vs 0.944 MHz)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7200" y="4800000"/>
            <a:ext cx="3650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7200" y="4840000"/>
            <a:ext cx="3350000" cy="4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2456A6"/>
                </a:solidFill>
                <a:latin typeface="Calibri"/>
              </a:rPr>
              <a:t>71.7 %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200" y="5300000"/>
            <a:ext cx="3350000" cy="35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yield with a real transistor-level core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— Live Monte Carlo and PVT Lab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app drives ngspice in SKY130A: choose bias scheme, corner, VDD, temperature, runs and seed, then press Run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shown: PTAT current bias, tt, 1.8 V, 27 °C, 3000 runs, seed 12345 → f3 1.599 MHz (σ 5.78 %), Q 0.719, 90.9 µW, ripple 0.032 dB, yield 92.0 %.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pic>
        <p:nvPicPr>
          <p:cNvPr id="8" name="Picture 7" descr="8473d5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525" y="1330000"/>
            <a:ext cx="9826950" cy="433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— Live Results While It Runs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Histograms, f3–Q scatter and convergence update as runs complete; red = out of spec, green band = spec window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1.604 ± 0.096 MHz, Q 0.7207 ± 0.0274, power 91 ± 1.1 µW. Running mean and σ settle within a few hundred runs, which is why 750–3000 runs are enough.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pic>
        <p:nvPicPr>
          <p:cNvPr id="8" name="Picture 7" descr="029c70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748" y="1300000"/>
            <a:ext cx="7290503" cy="435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— Run-of-Show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steps, about four minutes; the expected numbers confirm that the live app matches the report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00000"/>
          <a:ext cx="11247119" cy="360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79"/>
                <a:gridCol w="3291840"/>
                <a:gridCol w="3474720"/>
                <a:gridCol w="3840480"/>
              </a:tblGrid>
              <a:tr h="6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Set in the app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Expected result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to say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PTAT bias, tt, 1.8 V, 27 °C, 3000 runs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f3 1.599 MHz, σ 5.78 %, Q 0.719, 90.9 µW, yield 92.0 %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Healthy design: centered on 1.6 MHz and inside the window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Voltage bias, tt, 1.8 V, −20 °C (then 85 °C)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Yield about 0.1 %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The same filter fails when only temperature moves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PTAT bias, sf, 1.62 V, −20 °C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Yield about 73 %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Worst corner is degraded but still usable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PVT grid tab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45-condition heat maps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Voltage bias collapses at temperature extremes; PTAT stays flat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Cross-checks and limits tab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Pelgrom 5.62 % vs MC 5.91 %; Xyce 0.003 %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Results are independently verified, limits are stated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900000"/>
            <a:ext cx="11247120" cy="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Other tabs available if asked: Compare sets, Pelgrom, Transient, Bias comparison, Study results.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— Cross-Checks and Study Results Tabs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also reproduces the verification evidence, so the claims can be checked live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Xyce reproduces ngspice with 30 identical injected mismatch draws: maximum f3 difference 0.003 %. Noise 240 µV rms at the output; DC operating point and tolerance checks agree with the report.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00000"/>
          <a:ext cx="11247119" cy="392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784233"/>
                <a:gridCol w="5462886"/>
              </a:tblGrid>
              <a:tr h="56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Pelgrom prediction vs Monte Carlo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f3 σ 5.62 % vs 5.91 %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AC vs transient simulation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0.03 dB and 0.14° apart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Tolerance rerun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f3 changes 0.12 %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Xyce vs ngspice, nominal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0.001 % in f3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Xyce vs ngspice, 30 injected mismatch draws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max 0.003 % in f3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A"/>
                          </a:solidFill>
                          <a:latin typeface="Calibri"/>
                        </a:rPr>
                        <a:t>Output noise, nominal PTAT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Calibri"/>
                        </a:rPr>
                        <a:t>240 µV rms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Explanation — How to Read the Plots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output, what it shows, and what a good result looks like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00000"/>
          <a:ext cx="11247118" cy="448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35944"/>
                <a:gridCol w="3067396"/>
                <a:gridCol w="4089861"/>
                <a:gridCol w="2453917"/>
              </a:tblGrid>
              <a:tr h="56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How to read it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This project's value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1B2A4A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f3 histogram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Spread of the −3 dB frequency across mismatch runs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Narrow and centred on 1.6 MHz is good; the band is ±10 %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σ about 5–7 % of f3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Q histogram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Spread of the quality factor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Must stay inside 0.6–0.8 (Butterworth-like, no peaking)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Mean 0.72, σ 0.026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f3–Q scatter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Correlation of the two figures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A tilted cloud means one cause moves both, so the spec box clips corners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f3 and Q rise together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Yield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Share of runs inside both limits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Higher is better; compare schemes at the same condition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22.4 → 88.7 %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PVT heat map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Mean f3 or yield for 5 corners × 3 VDD × 3 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Flat colour means robust; stripes along temperature mean drift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PTAT flat, voltage bias striped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Ripple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Gain peaking over the passband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Under about 0.5 dB means no visible peaking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Mean 0.033 dB, max 0.35 dB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5F7FB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A"/>
                          </a:solidFill>
                          <a:latin typeface="Calibri"/>
                        </a:rPr>
                        <a:t>Convergence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Running mean and σ vs run count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Lines flattening means enough runs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A"/>
                          </a:solidFill>
                          <a:latin typeface="Calibri"/>
                        </a:rPr>
                        <a:t>Settled by a few hundred runs</a:t>
                      </a:r>
                    </a:p>
                  </a:txBody>
                  <a:tcPr marL="80000" marR="80000" marT="40000" marB="40000" anchor="ctr">
                    <a:lnL w="9525">
                      <a:solidFill>
                        <a:srgbClr val="C9D2E0"/>
                      </a:solidFill>
                    </a:lnL>
                    <a:lnR w="9525">
                      <a:solidFill>
                        <a:srgbClr val="C9D2E0"/>
                      </a:solidFill>
                    </a:lnR>
                    <a:lnT w="9525">
                      <a:solidFill>
                        <a:srgbClr val="C9D2E0"/>
                      </a:solidFill>
                    </a:lnT>
                    <a:lnB w="9525">
                      <a:solidFill>
                        <a:srgbClr val="C9D2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Explanation — What the Results Mean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observations and the design guidelines they support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457200" y="1400000"/>
            <a:ext cx="3650000" cy="4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7200" y="1520000"/>
            <a:ext cx="365760" cy="365760"/>
          </a:xfrm>
          <a:prstGeom prst="ellipse">
            <a:avLst/>
          </a:prstGeom>
          <a:solidFill>
            <a:srgbClr val="24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7200" y="2000000"/>
            <a:ext cx="3350000" cy="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Temperature, not mismatch, kills the voltage-bias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200" y="2950000"/>
            <a:ext cx="3350000" cy="1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Mismatch alone gives a 5–6 % spread, close to the Pelgrom prediction (5.62 % vs 5.91 %). The 22.4 % yield comes from gm falling with temperature. Tracking gm with a PTAT current removes most of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200" y="4650000"/>
            <a:ext cx="3350000" cy="900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7200" y="4700000"/>
            <a:ext cx="315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456A6"/>
                </a:solidFill>
                <a:latin typeface="Calibri"/>
              </a:rPr>
              <a:t>Guideline: bias Gm-C stages from a PTAT current with exponent about 0.6.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7200" y="1400000"/>
            <a:ext cx="3650000" cy="4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07200" y="1520000"/>
            <a:ext cx="365760" cy="365760"/>
          </a:xfrm>
          <a:prstGeom prst="ellipse">
            <a:avLst/>
          </a:prstGeom>
          <a:solidFill>
            <a:srgbClr val="24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200" y="2000000"/>
            <a:ext cx="3350000" cy="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A real PTAT core keeps most of the benefit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200" y="2950000"/>
            <a:ext cx="3350000" cy="1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The beta-multiplier core reaches 71.7 % yield (3.2× voltage bias). The 17-point loss to the ideal source comes from its supply sensitivity, worst at sf, 1.62 V, −20 °C.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200" y="4650000"/>
            <a:ext cx="3350000" cy="900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200" y="4700000"/>
            <a:ext cx="315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456A6"/>
                </a:solidFill>
                <a:latin typeface="Calibri"/>
              </a:rPr>
              <a:t>Guideline: improve the core's supply rejection before adding area.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7200" y="1400000"/>
            <a:ext cx="3650000" cy="4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07200" y="1520000"/>
            <a:ext cx="365760" cy="365760"/>
          </a:xfrm>
          <a:prstGeom prst="ellipse">
            <a:avLst/>
          </a:prstGeom>
          <a:solidFill>
            <a:srgbClr val="24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7200" y="2000000"/>
            <a:ext cx="3350000" cy="9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More matching area buys little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7200" y="2950000"/>
            <a:ext cx="3350000" cy="17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Quadrupling the mirror area gives about +5 points of yield for about 70 % more power, so sizing is not the lever.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07200" y="4650000"/>
            <a:ext cx="3350000" cy="900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24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7200" y="4700000"/>
            <a:ext cx="3150000" cy="8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456A6"/>
                </a:solidFill>
                <a:latin typeface="Calibri"/>
              </a:rPr>
              <a:t>Guideline: spend effort on bias tracking, not on bigger devices.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achieved, what is not yet done, and where the work goes next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8" name="Rounded Rectangle 7"/>
          <p:cNvSpPr/>
          <p:nvPr/>
        </p:nvSpPr>
        <p:spPr>
          <a:xfrm>
            <a:off x="457200" y="1400000"/>
            <a:ext cx="5500000" cy="4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000" y="1500000"/>
            <a:ext cx="510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Conclusions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" y="1950000"/>
            <a:ext cx="5100000" cy="42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A 3-OTA Gm-C biquad in SKY130A meets f3 1.6 MHz ±10 % and Q 0.6–0.8 at nominal (f3 1.610 MHz, Q 0.722).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1,800+ PVT Monte Carlo runs show a fixed voltage bias gives only 22.4 % yield.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A PTAT bias lifts yield to 88.7 % (ideal) and 71.7 % (transistor-level core).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Results are cross-checked: Pelgrom, AC vs transient (0.03 dB), Xyce (0.003 %).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Everything, including the live app, is open and reproducible.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0000" y="1400000"/>
            <a:ext cx="5550000" cy="4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0" y="1500000"/>
            <a:ext cx="5150000" cy="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Limits and 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1950000"/>
            <a:ext cx="5150000" cy="42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The core's yield uses 40 runs per condition (±2 points); a 750-run grid is not yet done.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No CMFB or output buffer; common-mode and loading effects are not modelled.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Mismatch uses PDK mm corners only; ageing and layout parasitics are excluded.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• Next: improve core supply rejection, add CMFB and buffer, post-layout extraction, tape-out-ready layout.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Raised at Review 1 — and What Happened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Review 1 risk against the final outcome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953968"/>
              </p:ext>
            </p:extLst>
          </p:nvPr>
        </p:nvGraphicFramePr>
        <p:xfrm>
          <a:off x="457200" y="1463040"/>
          <a:ext cx="11247120" cy="40776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Risk raised at Review 1</a:t>
                      </a:r>
                      <a:endParaRPr lang="en-US" sz="105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Mitigation planned</a:t>
                      </a:r>
                      <a:endParaRPr lang="en-US" sz="105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actually happened</a:t>
                      </a:r>
                      <a:endParaRPr lang="en-US" sz="105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3A2E"/>
                          </a:solidFill>
                        </a:rPr>
                        <a:t>SKY130 Monte Carlo/mismatch setup has rough edges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Contingency time; fall back to a 200-run campaign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</a:rPr>
                        <a:t>Ran at 750 runs, no fallback. Hurdles: only one global mismatch switch, subckt "mult" ignored (explicit parallel instances used), .GLOBAL VDD needed.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3A2E"/>
                          </a:solidFill>
                        </a:rPr>
                        <a:t>Mismatch coefficients are unverified against silicon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Pelgrom hand-calculation cross-check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</a:rPr>
                        <a:t>Sensitivity check done: predicted f3 σ 5.6% vs 5.9% from Monte Carlo. Still unvalidated against silicon.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3A2E"/>
                          </a:solidFill>
                        </a:rPr>
                        <a:t>Cross-simulator validation (stretch goal)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Re-run key results in a second simulator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</a:rPr>
                        <a:t>Done: Xyce 7.10 matches ngspice at nominal (0.001%) and on 30 injected-mismatch runs (within 0.003%). Xyce ignores the PDK mismatch model, so PDK statistics are ngspice-only.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B03A2E"/>
                          </a:solidFill>
                        </a:rPr>
                        <a:t>A closely matching open-SKY130 study appears</a:t>
                      </a:r>
                      <a:endParaRPr lang="en-US" sz="16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A35"/>
                          </a:solidFill>
                        </a:rPr>
                        <a:t>Narrow to a sub-angle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</a:rPr>
                        <a:t>Search not repeated since Review 1. New angle added: PTAT bias recovers yield (22.4% → 88.7% ideal reference, 71.7% transistor-level). Recheck literature before submission.</a:t>
                      </a:r>
                      <a:endParaRPr lang="en-US" sz="1400" dirty="0"/>
                    </a:p>
                  </a:txBody>
                  <a:tcPr marL="76200" marR="76200" marT="50800" marB="50800">
                    <a:lnL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and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828800" cy="365760"/>
          </a:xfrm>
          <a:prstGeom prst="roundRect">
            <a:avLst>
              <a:gd name="adj" fmla="val 37500"/>
            </a:avLst>
          </a:prstGeom>
          <a:solidFill>
            <a:srgbClr val="1E844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762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71907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with checksums (netlists, seeds, scripts, results) and the live lab app are ready; publishing the repository is the remaining step.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828800" cy="365760"/>
          </a:xfrm>
          <a:prstGeom prst="roundRect">
            <a:avLst>
              <a:gd name="adj" fmla="val 37500"/>
            </a:avLst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850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Supply-insensitive bias core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22783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Transistor-level core built and run (1,800 runs, 71.7% yield). Next: a supply-insensitive core (cascode or regulated) to close the gap to the 88.7% ideal-source bound, then the full 750-run campaign.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1124712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  <a:effectLst>
            <a:outerShdw blurRad="508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828800" cy="365760"/>
          </a:xfrm>
          <a:prstGeom prst="roundRect">
            <a:avLst>
              <a:gd name="adj" fmla="val 37500"/>
            </a:avLst>
          </a:prstGeom>
          <a:solidFill>
            <a:srgbClr val="2456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1937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gaps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473659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Ideal-source exponent is tuned (a plain PTAT gives about 79% yield, est.); the transistor-level core was run at 40 runs per condition only (±2% on the mean, coarse per condition); Xyce cannot apply the PDK mismatch model; mismatch coefficients and SKY130 noise and subthreshold modelling are unvalidated against silicon.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 List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M. Kumngern, K. Aupithak, F. Khateb, T. Kulej, "0.5V Fifth-Order Butterworth Low-Pass Filter Using Multiple-Input OTA for ECG Applications," Sensors, 20(24):7343, 2020.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602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F. Aiello et al., "Design of a Linear Transconductance OTA using the Open Sky130 Process Design Kit," ResearchGate preprint / SForum 2023.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michaelk99, "SKY130_CT-DSM," GitHub repository, accessed 2026.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460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Z. Li et al., "AnalogGym: An Open and Practical Testing Suite for Analog Circuit Synthesis," Proc. IEEE/ACM ICCAD, 2024, arXiv:2409.08534.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SkyWater Technology and Google, "SKY130 Open Source PDK Documentation — Simulation," skywater-pdk.readthedocs.io/en/main/sim.html, accessed 2026.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318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IEEE India Council, "INDICON 2026 Call for Papers," 2026.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747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VLSI Design Automation (UCSC), "SKY130 PDK: Device Models, Binning, and Monte Carlo Mismatch," Chip Tutorials, GitHub, accessed 2026.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176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S. Lee and B. Razavi, "Gm-C Filters and Their Applications in RF Front-Ends and Read Channels," general reference.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605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Arcel G. Leynes et al., "A Simple On-Chip Automatic Tuning Circuit for Continuous-Time Filter," TSMC 0.35µm CMOS — reports ~30% RC time-constant drift from PVT, up to 50% at extremes.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034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Y. Chen et al., "A High-Accuracy RC Time-Constant Auto-Tuning Scheme for Integrated Continuous-Time Filters," Micromachines, 15(1):166, 2024 — 55nm CMOS, 2.21% avg / 3.67% max tuning error.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8463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open_pdks project (R. Timothy Edwards), community threads on mc_mm_switch, SEED randomization, and mismatch coefficient structure, open-source-silicon.dev, 2021–2022.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1892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lhrodovalho, AICSP2022RAIL testbench example (tb_ol_ac_df_mc.spice), GitHub — reference ngspice mismatch testbench structure.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5321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open-source-silicon.dev community thread on ngspice parameter/device-name collisions in SKY130 mismatch simulation, documenting real setup friction.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87502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2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Beall et al., "DC Cryogenic Modeling of Open-Source SkyWater 130nm MOSFETs at 77K Using BSIM4," arXiv:2604.21625 — confirms no experimentally validated mismatch/corner data exists for SKY130 even in extended studies.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Characterization of a Gm-C Filter in SKY130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3975</Words>
  <Application>Microsoft Office PowerPoint</Application>
  <PresentationFormat>Widescreen</PresentationFormat>
  <Paragraphs>346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Jaidev Karthikeyan</cp:lastModifiedBy>
  <cp:revision>5</cp:revision>
  <dcterms:created xsi:type="dcterms:W3CDTF">2026-08-26T18:52:00Z</dcterms:created>
  <dcterms:modified xsi:type="dcterms:W3CDTF">2026-10-05T11:49:24Z</dcterms:modified>
</cp:coreProperties>
</file>